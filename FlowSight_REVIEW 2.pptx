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FlowSight_REVIEW%202.pptx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177" y="1110996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1C2B3E"/>
                </a:solidFill>
              </a:defRPr>
            </a:pPr>
            <a:r>
              <a:rPr dirty="0"/>
              <a:t>Flow 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38528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66FA5"/>
                </a:solidFill>
              </a:defRPr>
            </a:pPr>
            <a:r>
              <a:t>A Real-Time Data Engineering Pipeline for Traffic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3347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646E7A"/>
                </a:solidFill>
              </a:defRPr>
            </a:pPr>
            <a:r>
              <a:t>Fundamentals of Data Engineering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5" y="3697272"/>
            <a:ext cx="4572000" cy="5693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rPr dirty="0"/>
              <a:t>Team </a:t>
            </a:r>
            <a:r>
              <a:rPr lang="en-IN" dirty="0"/>
              <a:t> 7 </a:t>
            </a:r>
          </a:p>
          <a:p>
            <a:pPr algn="l">
              <a:defRPr sz="1550" b="1">
                <a:solidFill>
                  <a:srgbClr val="1C2B3E"/>
                </a:solidFill>
              </a:defRPr>
            </a:pPr>
            <a:r>
              <a:rPr dirty="0"/>
              <a:t>Members</a:t>
            </a:r>
            <a:r>
              <a:rPr lang="en-IN" dirty="0"/>
              <a:t>: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33272" y="4224528"/>
            <a:ext cx="4572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43E"/>
                </a:solidFill>
              </a:defRPr>
            </a:pPr>
            <a:r>
              <a:rPr b="1" dirty="0"/>
              <a:t>J. Nandini – 2420030262</a:t>
            </a:r>
            <a:br>
              <a:rPr b="1" dirty="0"/>
            </a:br>
            <a:r>
              <a:rPr b="1" dirty="0"/>
              <a:t>S. Sai Saranya – 2420030266</a:t>
            </a:r>
            <a:br>
              <a:rPr b="1" dirty="0"/>
            </a:br>
            <a:r>
              <a:rPr b="1" dirty="0"/>
              <a:t>B. Sai Charan – 2420030364</a:t>
            </a:r>
            <a:br>
              <a:rPr dirty="0"/>
            </a:b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15595" y="516208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rPr dirty="0"/>
              <a:t>Faculty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159" y="5534087"/>
            <a:ext cx="45720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343E"/>
                </a:solidFill>
              </a:defRPr>
            </a:pPr>
            <a:r>
              <a:rPr b="1" dirty="0"/>
              <a:t>Dr. N. Sirisha</a:t>
            </a:r>
            <a:br>
              <a:rPr b="1" dirty="0"/>
            </a:br>
            <a:r>
              <a:rPr b="1" dirty="0"/>
              <a:t>Associate Professor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193" y="37798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66FA5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2B3E"/>
                </a:solidFill>
              </a:defRPr>
            </a:pPr>
            <a:r>
              <a:t>Problem, Purpose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66FA5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8288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2B3E"/>
                </a:solidFill>
              </a:defRPr>
            </a:pPr>
            <a:r>
              <a:t>Literature Survey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66FA5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632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2B3E"/>
                </a:solidFill>
              </a:defRPr>
            </a:pPr>
            <a:r>
              <a:t>Research Gap &amp; 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063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66FA5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0632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2B3E"/>
                </a:solidFill>
              </a:defRPr>
            </a:pPr>
            <a:r>
              <a:t>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66FA5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2976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2B3E"/>
                </a:solidFill>
              </a:defRPr>
            </a:pPr>
            <a:r>
              <a:t>Data Generation, Validation &amp;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66FA5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2976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2B3E"/>
                </a:solidFill>
              </a:defRPr>
            </a:pPr>
            <a:r>
              <a:t>Expected Output &amp; 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413" y="38329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t>Problem Statement &amp; Project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492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29384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0008"/>
            <a:ext cx="4937759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343E"/>
                </a:solidFill>
              </a:defRPr>
            </a:pPr>
            <a:r>
              <a:t>Traffic sensors can generate continuous streams of vehicle-count and speed data. Raw events may contain missing values, duplicate readings or invalid measurements. Manual handling becomes difficult as the data grows, creating a need for an automated pipeline that can ingest, validate, transform and organize the stream.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929384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Project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350008"/>
            <a:ext cx="4937759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343E"/>
                </a:solidFill>
              </a:defRPr>
            </a:pPr>
            <a:r>
              <a:t>FlowSight converts continuously generated traffic events into clean, structured and analytics-ready information. The processed data is used to identify peak traffic hours, frequently congested roads, average speeds, vehicle volume and data-quality issues.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C2B3E"/>
                </a:solidFill>
              </a:defRPr>
            </a:pPr>
            <a:r>
              <a:t>Core idea: Build a reliable data pipeline — not a machine-learning traffic prediction 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366FA5"/>
                </a:solidFill>
              </a:defRPr>
            </a:pPr>
            <a:r>
              <a:t>Generate → Stream → Validate → Transform → Store → Analyze → Visualize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694" y="351665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t>Project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93391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F857B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38528"/>
            <a:ext cx="406908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50" b="0">
                <a:solidFill>
                  <a:srgbClr val="2D343E"/>
                </a:solidFill>
              </a:defRPr>
            </a:pPr>
            <a:r>
              <a:rPr lang="en-IN" sz="1450" dirty="0">
                <a:solidFill>
                  <a:srgbClr val="2D343E"/>
                </a:solidFill>
              </a:rPr>
              <a:t>Generate traffic data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9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93391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C97E36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38528"/>
            <a:ext cx="406908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50" b="0">
                <a:solidFill>
                  <a:srgbClr val="2D343E"/>
                </a:solidFill>
              </a:defRPr>
            </a:pPr>
            <a:r>
              <a:rPr lang="en-IN" sz="1450" dirty="0">
                <a:solidFill>
                  <a:srgbClr val="2D343E"/>
                </a:solidFill>
              </a:rPr>
              <a:t>Stream the data in real time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85800" y="3063239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7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31927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B74F4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64408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>
                <a:solidFill>
                  <a:srgbClr val="2D343E"/>
                </a:solidFill>
              </a:defRPr>
            </a:pPr>
            <a:r>
              <a:t>Validate and clean raw traffic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39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6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66FA5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264408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>
                <a:solidFill>
                  <a:srgbClr val="2D343E"/>
                </a:solidFill>
              </a:defRPr>
            </a:pPr>
            <a:r>
              <a:t>Transform raw events into analytics-ready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8912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68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64515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685696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90288"/>
            <a:ext cx="406908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50" b="0">
                <a:solidFill>
                  <a:srgbClr val="2D343E"/>
                </a:solidFill>
              </a:defRPr>
            </a:pPr>
            <a:r>
              <a:rPr lang="en-IN" sz="1450" dirty="0">
                <a:solidFill>
                  <a:srgbClr val="2D343E"/>
                </a:solidFill>
              </a:rPr>
              <a:t>Congested Road Identification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C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64515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2B3E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590288"/>
            <a:ext cx="406908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50" b="0">
                <a:solidFill>
                  <a:srgbClr val="2D343E"/>
                </a:solidFill>
              </a:defRPr>
            </a:pPr>
            <a:r>
              <a:rPr lang="en-IN" sz="1450" dirty="0">
                <a:solidFill>
                  <a:srgbClr val="2D343E"/>
                </a:solidFill>
              </a:rPr>
              <a:t>Real-Time Traffic Monitoring</a:t>
            </a:r>
            <a:endParaRPr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414" y="287278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rPr dirty="0"/>
              <a:t>Literature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343E"/>
                </a:solidFill>
              </a:defRPr>
            </a:pPr>
            <a:r>
              <a:rPr dirty="0"/>
              <a:t>In the literature survey, we reviewed previous work in three connected areas: traffic and intelligent transportation data, real-time event streaming, and modern data-pipeline architectures. The review helped identify the need to handle continuously generated events through separate ingestion, processing, storage and analytics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63240"/>
            <a:ext cx="34290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6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32095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Traffic &amp; Transport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30168"/>
            <a:ext cx="301752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D343E"/>
                </a:solidFill>
              </a:defRPr>
            </a:pPr>
            <a:r>
              <a:t>Traffic systems generate continuous data from sensors, vehicles and monitoring sources. Research emphasizes the need for scalable collection and analysis of these high-volume data 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63240"/>
            <a:ext cx="34290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32095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Real-Time Event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630168"/>
            <a:ext cx="301752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D343E"/>
                </a:solidFill>
              </a:defRPr>
            </a:pPr>
            <a:r>
              <a:t>Streaming systems capture events from sources, move them continuously through the pipeline and support downstream processing. Kafka is widely used for this event-driven approach.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063240"/>
            <a:ext cx="34290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32095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Pipeline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630168"/>
            <a:ext cx="301752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D343E"/>
                </a:solidFill>
              </a:defRPr>
            </a:pPr>
            <a:r>
              <a:t>Modern architectures separate source generation, ingestion, processing, storage and analytics so each stage has a clear responsibility and can be improved independently.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C2B3E"/>
                </a:solidFill>
              </a:defRPr>
            </a:pPr>
            <a:r>
              <a:t>Result of the survey: FlowSight combines these ideas into a manageable end-to-end learning project.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3526" y="401578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t>Literature Survey — Related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3154680" cy="548640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73736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600200"/>
            <a:ext cx="2148840" cy="548640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87368" y="17373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5212080" cy="548640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73736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dirty="0"/>
              <a:t>Key takeaway for </a:t>
            </a:r>
            <a:r>
              <a:rPr dirty="0" err="1"/>
              <a:t>FlowSight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03504" y="2217419"/>
            <a:ext cx="31546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217419"/>
            <a:ext cx="2953512" cy="9002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343E"/>
                </a:solidFill>
              </a:defRPr>
            </a:pPr>
            <a:r>
              <a:rPr dirty="0"/>
              <a:t>Raptis &amp; Passarella (2023)</a:t>
            </a:r>
            <a:br>
              <a:rPr dirty="0"/>
            </a:br>
            <a:r>
              <a:rPr dirty="0"/>
              <a:t>A Survey on Networked Data Streaming With Apache Kafka</a:t>
            </a:r>
            <a:endParaRPr lang="en-IN" dirty="0"/>
          </a:p>
          <a:p>
            <a:pPr>
              <a:defRPr sz="1050" b="0">
                <a:solidFill>
                  <a:srgbClr val="2D343E"/>
                </a:solidFill>
              </a:defRPr>
            </a:pPr>
            <a:r>
              <a:rPr lang="en-IN" dirty="0">
                <a:hlinkClick r:id="rId2" action="ppaction://hlinkpres?slideindex=1&amp;slidetitle="/>
              </a:rPr>
              <a:t>https://doaj.org/article/0bf1606df61b4c54a2efd970704b5c89?utm_source=chatgpt.com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3977639" y="2176272"/>
            <a:ext cx="214884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87368" y="2267712"/>
            <a:ext cx="1947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343E"/>
                </a:solidFill>
              </a:defRPr>
            </a:pPr>
            <a:r>
              <a:t>Kafka / networked streaming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76272"/>
            <a:ext cx="52120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2267712"/>
            <a:ext cx="501091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343E"/>
                </a:solidFill>
              </a:defRPr>
            </a:pPr>
            <a:r>
              <a:t>Shows Kafka's relevance across data, cyber-physical and streaming applications; supports using Kafka as the ingestion layer.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090672"/>
            <a:ext cx="31546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3090672"/>
            <a:ext cx="2953512" cy="9002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343E"/>
                </a:solidFill>
              </a:defRPr>
            </a:pPr>
            <a:r>
              <a:rPr dirty="0"/>
              <a:t>Kreps, Narkhede &amp; Rao (2011)</a:t>
            </a:r>
            <a:br>
              <a:rPr dirty="0"/>
            </a:br>
            <a:r>
              <a:rPr dirty="0"/>
              <a:t>Kafka: a Distributed Messaging System for Log Processing</a:t>
            </a:r>
            <a:endParaRPr lang="en-IN" dirty="0"/>
          </a:p>
          <a:p>
            <a:pPr>
              <a:defRPr sz="1050" b="0">
                <a:solidFill>
                  <a:srgbClr val="2D343E"/>
                </a:solidFill>
              </a:defRPr>
            </a:pPr>
            <a:r>
              <a:rPr lang="en-IN" dirty="0">
                <a:hlinkClick r:id="rId2" action="ppaction://hlinkpres?slideindex=1&amp;slidetitle="/>
              </a:rPr>
              <a:t>https://kafka.apache.org/community/books_and_papers/?utm_source=chatgpt.com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3977639" y="3090672"/>
            <a:ext cx="214884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87368" y="3182112"/>
            <a:ext cx="1947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343E"/>
                </a:solidFill>
              </a:defRPr>
            </a:pPr>
            <a:r>
              <a:t>Distributed event processing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090672"/>
            <a:ext cx="52120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182112"/>
            <a:ext cx="501091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343E"/>
                </a:solidFill>
              </a:defRPr>
            </a:pPr>
            <a:r>
              <a:rPr dirty="0"/>
              <a:t>Establishes Kafka as a publish/subscribe system for high-throughput event movement between producers and consumers.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005072"/>
            <a:ext cx="31546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084725"/>
            <a:ext cx="2953512" cy="9002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343E"/>
                </a:solidFill>
              </a:defRPr>
            </a:pPr>
            <a:r>
              <a:rPr dirty="0"/>
              <a:t>Singh (2024)</a:t>
            </a:r>
            <a:br>
              <a:rPr dirty="0"/>
            </a:br>
            <a:r>
              <a:rPr dirty="0"/>
              <a:t>Real-Time Data Processing ... Traffic Analysis</a:t>
            </a:r>
            <a:endParaRPr lang="en-IN" dirty="0"/>
          </a:p>
          <a:p>
            <a:pPr>
              <a:defRPr sz="1050" b="0">
                <a:solidFill>
                  <a:srgbClr val="2D343E"/>
                </a:solidFill>
              </a:defRPr>
            </a:pPr>
            <a:r>
              <a:rPr lang="en-IN" dirty="0">
                <a:hlinkClick r:id="rId2" action="ppaction://hlinkpres?slideindex=1&amp;slidetitle="/>
              </a:rPr>
              <a:t>https://www.ijirmps.org/research-paper.php?id=230767&amp;utm_source=chatgpt.com</a:t>
            </a:r>
            <a:endParaRPr lang="en-IN" dirty="0"/>
          </a:p>
          <a:p>
            <a:pPr algn="l">
              <a:defRPr sz="1050" b="0">
                <a:solidFill>
                  <a:srgbClr val="2D343E"/>
                </a:solidFill>
              </a:defRPr>
            </a:pP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3977639" y="4005072"/>
            <a:ext cx="214884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87368" y="4096511"/>
            <a:ext cx="1947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343E"/>
                </a:solidFill>
              </a:defRPr>
            </a:pPr>
            <a:r>
              <a:t>Real-time processing / traffic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05072"/>
            <a:ext cx="52120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4096511"/>
            <a:ext cx="501091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343E"/>
                </a:solidFill>
              </a:defRPr>
            </a:pPr>
            <a:r>
              <a:t>Highlights the value of real-time processing frameworks and low-latency analytics for traffic-related applications.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749" y="36576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rPr dirty="0"/>
              <a:t>Research Gap &amp; Proposed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83664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Existing Approaches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04288"/>
            <a:ext cx="470915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43E"/>
                </a:solidFill>
              </a:defRPr>
            </a:pPr>
            <a:r>
              <a:t>Many systems are designed for large-scale production use, use multiple distributed tools, or focus strongly on traffic prediction and machine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1206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3621024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Identified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041648"/>
            <a:ext cx="470915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43E"/>
                </a:solidFill>
              </a:defRPr>
            </a:pPr>
            <a:r>
              <a:t>For learning Fundamentals of Data Engineering, students need a smaller project that still demonstrates the complete journey of continuously arriving data through a realistic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120640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883664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FlowSight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04288"/>
            <a:ext cx="4709159" cy="2441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43E"/>
                </a:solidFill>
              </a:defRPr>
            </a:pPr>
            <a:r>
              <a:t>FlowSight provides a beginner-friendly but complete architecture:</a:t>
            </a:r>
            <a:br/>
            <a:br/>
            <a:r>
              <a:t>Python traffic simulator</a:t>
            </a:r>
            <a:br/>
            <a:r>
              <a:t>↓</a:t>
            </a:r>
            <a:br/>
            <a:r>
              <a:t>Kafka event ingestion</a:t>
            </a:r>
            <a:br/>
            <a:r>
              <a:t>↓</a:t>
            </a:r>
            <a:br/>
            <a:r>
              <a:t>Validation &amp; transformation</a:t>
            </a:r>
            <a:br/>
            <a:r>
              <a:t>↓</a:t>
            </a:r>
            <a:br/>
            <a:r>
              <a:t>PostgreSQL historical storage</a:t>
            </a:r>
            <a:br/>
            <a:r>
              <a:t>↓</a:t>
            </a:r>
            <a:br/>
            <a:r>
              <a:t>SQL analytics &amp; Power BI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C2B3E"/>
                </a:solidFill>
              </a:defRPr>
            </a:pPr>
            <a:r>
              <a:rPr dirty="0"/>
              <a:t>Focus: demonstrate Data Engineering fundamentals clearly and practically.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3526" y="347093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5F07906-FF75-5D34-03AF-FB967E2FB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088140"/>
            <a:ext cx="10036410" cy="523539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5BBB31F-732C-F2F9-E0C1-CC3ACBFD78BD}"/>
              </a:ext>
            </a:extLst>
          </p:cNvPr>
          <p:cNvSpPr txBox="1"/>
          <p:nvPr/>
        </p:nvSpPr>
        <p:spPr>
          <a:xfrm>
            <a:off x="457010" y="453006"/>
            <a:ext cx="3278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System Architecture: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361" y="223191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t>Technology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92224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1284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D343E"/>
                </a:solidFill>
              </a:defRPr>
            </a:pPr>
            <a:r>
              <a:t>Easy way to simulate continuously arriving traffic events and implement processing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1792224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Apache 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21284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D343E"/>
                </a:solidFill>
              </a:defRPr>
            </a:pPr>
            <a:r>
              <a:t>Acts as the event-streaming layer between the producer and consumer.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71800"/>
            <a:ext cx="521208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118104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53872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D343E"/>
                </a:solidFill>
              </a:defRPr>
            </a:pPr>
            <a:r>
              <a:t>Stores clean structured records for historical queries and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71800"/>
            <a:ext cx="521208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6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3118104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53872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D343E"/>
                </a:solidFill>
              </a:defRPr>
            </a:pPr>
            <a:r>
              <a:t>Calculates averages, totals, peak periods and road-level traffic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521208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443984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86460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D343E"/>
                </a:solidFill>
              </a:defRPr>
            </a:pPr>
            <a:r>
              <a:t>Presents processed information through dashboards and KPIs.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471" y="281027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t>Data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4983480" cy="3246120"/>
          </a:xfrm>
          <a:prstGeom prst="round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389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{</a:t>
            </a:r>
            <a:br/>
            <a:r>
              <a:t>  "sensor_id": "S003",</a:t>
            </a:r>
            <a:br/>
            <a:r>
              <a:t>  "road_name": "Hitech City Road",</a:t>
            </a:r>
            <a:br/>
            <a:r>
              <a:t>  "timestamp": "2026-08-06 08:35:20",</a:t>
            </a:r>
            <a:br/>
            <a:r>
              <a:t>  "vehicle_count": 230,</a:t>
            </a:r>
            <a:br/>
            <a:r>
              <a:t>  "average_speed": 17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663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88366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Source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304288"/>
            <a:ext cx="475488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43E"/>
                </a:solidFill>
              </a:defRPr>
            </a:pPr>
            <a:r>
              <a:t>Python simulates multiple virtual traffic sensors and continuously creates events for different roads and times.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337560"/>
            <a:ext cx="51663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348386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Why Simulated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904487"/>
            <a:ext cx="475488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43E"/>
                </a:solidFill>
              </a:defRPr>
            </a:pPr>
            <a:r>
              <a:t>It allows the complete pipeline to be built and demonstrated without requiring physical traffic sensors or access to a live city traffic feed.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C2B3E"/>
                </a:solidFill>
              </a:defRPr>
            </a:pPr>
            <a:r>
              <a:t>The event format is designed to be simple, structured and suitable for streaming as JSON.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415" y="384048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t>Data Validation &amp; Transformation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916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36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2B3E"/>
                </a:solidFill>
              </a:defRPr>
            </a:pPr>
            <a:r>
              <a:t>Raw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46E7A"/>
                </a:solidFill>
              </a:defRPr>
            </a:pPr>
            <a:r>
              <a:t>Incoming JSON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13432" y="2176272"/>
            <a:ext cx="274320" cy="228600"/>
          </a:xfrm>
          <a:prstGeom prst="rightArrow">
            <a:avLst/>
          </a:prstGeom>
          <a:solidFill>
            <a:srgbClr val="36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1760" y="16916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9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192024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2B3E"/>
                </a:solidFill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3317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46E7A"/>
                </a:solidFill>
              </a:defRPr>
            </a:pPr>
            <a:r>
              <a:t>Check quality rules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45152" y="2176272"/>
            <a:ext cx="274320" cy="228600"/>
          </a:xfrm>
          <a:prstGeom prst="rightArrow">
            <a:avLst/>
          </a:prstGeom>
          <a:solidFill>
            <a:srgbClr val="36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983479" y="16916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7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192024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2B3E"/>
                </a:solidFill>
              </a:defRPr>
            </a:pPr>
            <a:r>
              <a:t>Reject /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317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46E7A"/>
                </a:solidFill>
              </a:defRPr>
            </a:pPr>
            <a:r>
              <a:t>Keep invalid records for inspection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76871" y="2176272"/>
            <a:ext cx="274320" cy="228600"/>
          </a:xfrm>
          <a:prstGeom prst="rightArrow">
            <a:avLst/>
          </a:prstGeom>
          <a:solidFill>
            <a:srgbClr val="36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199" y="16916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59" y="192024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2B3E"/>
                </a:solidFill>
              </a:defRPr>
            </a:pPr>
            <a: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23317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46E7A"/>
                </a:solidFill>
              </a:defRPr>
            </a:pPr>
            <a:r>
              <a:t>Standardize &amp; derive fields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08592" y="2176272"/>
            <a:ext cx="274320" cy="228600"/>
          </a:xfrm>
          <a:prstGeom prst="rightArrow">
            <a:avLst/>
          </a:prstGeom>
          <a:solidFill>
            <a:srgbClr val="36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46919" y="16916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68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192024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2B3E"/>
                </a:solidFill>
              </a:defRPr>
            </a:pPr>
            <a:r>
              <a:t>Clean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317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46E7A"/>
                </a:solidFill>
              </a:defRPr>
            </a:pPr>
            <a:r>
              <a:t>Ready for PostgreSQL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657600"/>
            <a:ext cx="33375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3803904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Validation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224528"/>
            <a:ext cx="2926079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E"/>
                </a:solidFill>
              </a:defRPr>
            </a:pPr>
            <a:r>
              <a:t>• sensor_id required</a:t>
            </a:r>
            <a:br/>
            <a:r>
              <a:t>• timestamp required</a:t>
            </a:r>
            <a:br/>
            <a:r>
              <a:t>• vehicle_count ≥ 0</a:t>
            </a:r>
            <a:br/>
            <a:r>
              <a:t>• 0 ≤ speed ≤ 150</a:t>
            </a:r>
            <a:br/>
            <a:r>
              <a:t>• duplicate events checked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57600"/>
            <a:ext cx="33375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45152" y="3803904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Derived Fields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4224528"/>
            <a:ext cx="2926079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E"/>
                </a:solidFill>
              </a:defRPr>
            </a:pPr>
            <a:r>
              <a:t>hour, day, month, year, weekday, weekend_flag and congestion_level are calculated from the raw event.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657600"/>
            <a:ext cx="33375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2752" y="3803904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Example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224528"/>
            <a:ext cx="2926079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E"/>
                </a:solidFill>
              </a:defRPr>
            </a:pPr>
            <a:r>
              <a:t>If vehicle_count &gt; 200 AND average_speed &lt; 20 km/h, classify the event as HIGH congestion.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360" y="300615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t>Expected System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83664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Peak Traffic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0428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E"/>
                </a:solidFill>
              </a:defRPr>
            </a:pPr>
            <a:r>
              <a:t>Identify periods with the highest vehicle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747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883664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Congested Roads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0428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E"/>
                </a:solidFill>
              </a:defRPr>
            </a:pPr>
            <a:r>
              <a:t>Find roads with high volume and low average speed.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4747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6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9912" y="1883664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Average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304288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E"/>
                </a:solidFill>
              </a:defRPr>
            </a:pPr>
            <a:r>
              <a:t>Compare road performance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34747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712463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Vehicle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33087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E"/>
                </a:solidFill>
              </a:defRPr>
            </a:pPr>
            <a:r>
              <a:t>Analyze total and average traffic counts.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566160"/>
            <a:ext cx="34747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3712463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Historical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133087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E"/>
                </a:solidFill>
              </a:defRPr>
            </a:pPr>
            <a:r>
              <a:t>Compare traffic conditions across dates and periods.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566160"/>
            <a:ext cx="34747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9912" y="3712463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Dashboard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4133087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E"/>
                </a:solidFill>
              </a:defRPr>
            </a:pPr>
            <a:r>
              <a:t>Present results clearly through Power BI.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C2B3E"/>
                </a:solidFill>
              </a:defRPr>
            </a:pPr>
            <a:r>
              <a:t>Final output: clean data + historical storage + meaningful traffic insights.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97219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C2B3E"/>
                </a:solidFill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6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379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Complete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58568"/>
            <a:ext cx="301752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D343E"/>
                </a:solidFill>
              </a:defRPr>
            </a:pPr>
            <a:r>
              <a:t>Demonstrates the movement of data from source generation to ingestion, processing, storage and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8379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Practical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258568"/>
            <a:ext cx="301752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D343E"/>
                </a:solidFill>
              </a:defRPr>
            </a:pPr>
            <a:r>
              <a:t>Combines Python, Kafka, PostgreSQL, SQL and Power BI in one connected Data Engineering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2900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2" y="18379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C2B3E"/>
                </a:solidFill>
              </a:defRPr>
            </a:pPr>
            <a:r>
              <a:t>Future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2258568"/>
            <a:ext cx="301752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D343E"/>
                </a:solidFill>
              </a:defRPr>
            </a:pPr>
            <a:r>
              <a:t>The architecture can later be extended with PySpark, Airflow, larger datasets or additional data 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C2B3E"/>
                </a:solidFill>
              </a:defRPr>
            </a:pPr>
            <a:r>
              <a:rPr dirty="0" err="1"/>
              <a:t>FlowSight</a:t>
            </a:r>
            <a:r>
              <a:rPr dirty="0"/>
              <a:t> transforms continuously generated traffic events into clean, structured and analytics-ready 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646E7A"/>
                </a:solidFill>
              </a:defRPr>
            </a:pPr>
            <a:r>
              <a:t>It focuses on the Fundamentals of Data Engineering lifecycle rather than machine-learning prediction.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650" y="287278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A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1C2B3E"/>
                </a:solidFill>
              </a:defRPr>
            </a:pPr>
            <a:r>
              <a:rPr sz="9600" dirty="0">
                <a:latin typeface="Brush Script MT" panose="03060802040406070304" pitchFamily="66" charset="0"/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9028" y="422505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1169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Brush Script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Nandini Jarugula</dc:creator>
  <cp:keywords/>
  <dc:description>generated using python-pptx</dc:description>
  <cp:lastModifiedBy>Nandini Jarugula</cp:lastModifiedBy>
  <cp:revision>19</cp:revision>
  <dcterms:created xsi:type="dcterms:W3CDTF">2013-01-27T09:14:16Z</dcterms:created>
  <dcterms:modified xsi:type="dcterms:W3CDTF">2026-08-26T04:17:05Z</dcterms:modified>
  <cp:category/>
</cp:coreProperties>
</file>